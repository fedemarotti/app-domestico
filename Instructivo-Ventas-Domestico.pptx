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7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914400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1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Arial Black"/>
              </a:rPr>
              <a:t>DOMÉSTICO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QUÍMICA DE LIMPIEZA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7C00"/>
                </a:solidFill>
                <a:latin typeface="Arial Black"/>
              </a:rPr>
              <a:t>INSTRUCTIVO DE VENTAS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44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Pastas concentradas de limpieza · Guía para vendedores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Confidencial ·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¿Qué vendemos?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El modelo de pasta concentrada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916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C00"/>
                </a:solidFill>
                <a:latin typeface="Calibri"/>
              </a:rPr>
              <a:t>📦  La pasta concentrada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840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El cliente compra un balde de pasta concentrada que, al diluirla con agua,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rinde hasta 50 o 200 litros del producto terminado.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🔵  Balde 50 lts → pasta para preparar 50 lts de producto</a:t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🔵  Balde 200 lts → pasta para preparar 200 lts de producto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La dilución exacta depende del producto y se indica en la etiqueta.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El cliente mezcla en casa → ahorra dinero, recibe alta concentración.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 Ventajas para el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00200"/>
            <a:ext cx="3840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💰  Precio por litro muy inferior al retail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🎨  Elige color y fragancia a gusto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📦  Menos embalaje, más rendimiento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🏠  Ideal para uso doméstico o comercial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🔁  Producto recurrente — el cliente vuelve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🌿  Formulación profesional, igual a marcas líderes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Jabón Líquido para Ropa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Producto estrella de la línea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Jabón líquido para Ropa, ideal para uso frecuente.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Se vende en pasta concentrada · El cliente la diluye en casa.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🎨  Colores disponibles: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       Azul · Verde · Violeta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🌸  Similares a líneas comerciales: SKIP, ARIEL, QUERUBÍN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⭐  Calidades: Inicial · Intermedia · Premium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💡  Tip de venta: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Mencioná de menor a mayor precio: primero el más económico,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después el de mejor calidad. El cliente casi siempre termina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eligiendo el de mayor valor.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Tabla de precios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572768"/>
            <a:ext cx="86868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7" y="1618488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572768"/>
            <a:ext cx="91440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572768"/>
            <a:ext cx="91440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Intermedia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572768"/>
            <a:ext cx="91440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965960"/>
            <a:ext cx="86868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7" y="2011679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Calibri"/>
              </a:rPr>
              <a:t>🪣 50 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965960"/>
            <a:ext cx="91440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$23.001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965960"/>
            <a:ext cx="91440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$25.366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965960"/>
            <a:ext cx="91440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$27.731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377440"/>
            <a:ext cx="868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0327" y="2423160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Calibri"/>
              </a:rPr>
              <a:t>🪣 200 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$87.268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056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$96.728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$106.188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834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Precios sin IVA · Sujetos a actualización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154680"/>
            <a:ext cx="4206240" cy="13258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2186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🔄  Opciones de personalización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566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Balde de 200 lts divisible en colores distintos.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  Ej: 50 lts Azul + 50 lts Violeta + 100 lts Verde — mismo precio.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No hay costo adicional por elección de color.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Suavizante para Ropa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Concentrado premium para telas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  <a:latin typeface="Calibri"/>
              </a:rP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Suavizante para Ropa que acondiciona las fibras textiles y deja aroma duradero.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🎨  Colores disponibles: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       Blanco · Celeste · Violeta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🌸  Colores de referencia similares a: Vívere, Confort, Downy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⭐  Calidades: Inicial · Intermedia · Premium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💡  Tip de venta: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Remarcar el rendimiento: ahorro brutal vs. marcas líderes.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Ideal para lavanderías y familias numerosas.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Premium suaviza y perfuma mucho más que Inicial e Intermedia.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  <a:latin typeface="Calibri"/>
              </a:rPr>
              <a:t>Tabla de precios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572768"/>
            <a:ext cx="86868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7" y="1618488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572768"/>
            <a:ext cx="91440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572768"/>
            <a:ext cx="91440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Intermedia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572768"/>
            <a:ext cx="91440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965960"/>
            <a:ext cx="868680" cy="3474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7" y="2011679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Calibri"/>
              </a:rPr>
              <a:t>🪣 50 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965960"/>
            <a:ext cx="914400" cy="3474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$24.772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965960"/>
            <a:ext cx="914400" cy="3474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$25.954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965960"/>
            <a:ext cx="914400" cy="3474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$27.731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377440"/>
            <a:ext cx="868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0327" y="2423160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Calibri"/>
              </a:rPr>
              <a:t>🪣 200 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$94.363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056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$99.330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$106.425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834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Precios sin IVA · Sujetos a actualización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154680"/>
            <a:ext cx="4206240" cy="13258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2186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A2"/>
                </a:solidFill>
                <a:latin typeface="Calibri"/>
              </a:rPr>
              <a:t>🔄  Opciones de personalización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566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Presentación de 200 lts divisible en colores distintos.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Fragancias símil original: VÍVERE o DOWNY.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Premium: mayor suavidad y perfume duradero.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Detergente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Para vajilla y limpieza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6B"/>
                </a:solidFill>
                <a:latin typeface="Calibri"/>
              </a:rP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Detergente concentrado con alta capacidad desengrasante.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Ideal para vajilla, superficies y limpieza doméstica general.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🎨  Color por defecto: Amarillo (con fragancia Limón)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       Verde (a pedido) · Azul (a pedido)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🌸  Formulación profesional · Alto poder desengrasante</a:t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       Calidad Premium = Símil MAGISTRAL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⭐  Calidades: Inicial · Intermedia · Premium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Calibri"/>
              </a:rPr>
              <a:t>💡  Tip de venta: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Premium: mayor viscosidad y espuma más densa.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Verde y Azul se producen a pedido — avisarlo al cliente.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6B"/>
                </a:solidFill>
                <a:latin typeface="Calibri"/>
              </a:rPr>
              <a:t>Tabla de precios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572768"/>
            <a:ext cx="868680" cy="347472"/>
          </a:xfrm>
          <a:prstGeom prst="rect">
            <a:avLst/>
          </a:prstGeom>
          <a:solidFill>
            <a:srgbClr val="00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7" y="1618488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572768"/>
            <a:ext cx="914400" cy="347472"/>
          </a:xfrm>
          <a:prstGeom prst="rect">
            <a:avLst/>
          </a:prstGeom>
          <a:solidFill>
            <a:srgbClr val="00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572768"/>
            <a:ext cx="914400" cy="347472"/>
          </a:xfrm>
          <a:prstGeom prst="rect">
            <a:avLst/>
          </a:prstGeom>
          <a:solidFill>
            <a:srgbClr val="00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Intermedia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572768"/>
            <a:ext cx="914400" cy="347472"/>
          </a:xfrm>
          <a:prstGeom prst="rect">
            <a:avLst/>
          </a:prstGeom>
          <a:solidFill>
            <a:srgbClr val="00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61848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965960"/>
            <a:ext cx="86868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7" y="2011679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Calibri"/>
              </a:rPr>
              <a:t>🪣 50 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965960"/>
            <a:ext cx="91440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$24.662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965960"/>
            <a:ext cx="91440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$27.755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965960"/>
            <a:ext cx="91440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0116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$31.464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377440"/>
            <a:ext cx="868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0327" y="2423160"/>
            <a:ext cx="832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Calibri"/>
              </a:rPr>
              <a:t>🪣 200 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$93.955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056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$106.070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377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242316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$120.905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834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Precios sin IVA · Sujetos a actualización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154680"/>
            <a:ext cx="4206240" cy="1325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2186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6B"/>
                </a:solidFill>
                <a:latin typeface="Calibri"/>
              </a:rPr>
              <a:t>⚠️  Consideraciones especiales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566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Amarillo: POR DEFECTO · Con Fragancia Limón.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Verde y Azul → producción a pedido, 48 hs de anticipo.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• Alta demanda en gastronomía y negocios de limpieza.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Lavandina &amp; Desodorante de Piso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Precio único por tamaño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1579B"/>
                </a:solidFill>
                <a:latin typeface="Calibri"/>
              </a:rPr>
              <a:t>🧴  Lavandina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Hipoclorito de sodio concentrado.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Sin color ni fragancia opcional.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Uso: limpieza, desinfección de superficies.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78024"/>
            <a:ext cx="3749039" cy="3200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0545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🪣 50 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0545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  <a:latin typeface="Calibri"/>
              </a:rPr>
              <a:t>$4.250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62072"/>
            <a:ext cx="3749039" cy="3200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🪣 200 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8895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  <a:latin typeface="Calibri"/>
              </a:rPr>
              <a:t>$13.975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273552"/>
            <a:ext cx="420624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🔄  Canje disponible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393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Sin variante de calidad — precio único.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953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Canjeable por Desodorante al mismo precio.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513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Sin fragancia adicional.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1704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1579B"/>
                </a:solidFill>
                <a:latin typeface="Calibri"/>
              </a:rPr>
              <a:t>🌀  Desodorante - Desengrasante y Desinfectante para Pisos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6642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Concentrado de pisos · 1 litro rinde 100.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~10 fragancias disponibles.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176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Ideal para hogares, comercios, depósitos.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478024"/>
            <a:ext cx="3749039" cy="3200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50545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🪣 50 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50545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  <a:latin typeface="Calibri"/>
              </a:rPr>
              <a:t>$4.250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862072"/>
            <a:ext cx="3749039" cy="3200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🪣 200 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8895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  <a:latin typeface="Calibri"/>
              </a:rPr>
              <a:t>$13.975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273552"/>
            <a:ext cx="420624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🔄  Canje disponible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6393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Canjeable si el cliente no quiere Lavandina.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8953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Elige la fragancia (cualquier del catálogo).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1513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200 lts divisible hasta en 4 porciones.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Combos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 oferta más conveniente — 5 productos en 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8686800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Calibri"/>
              </a:rPr>
              <a:t>Incluye: Jabón · Suavizante · Detergente · Lavandina · Desodorante de Piso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28800"/>
            <a:ext cx="42062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828800"/>
            <a:ext cx="4206240" cy="5029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92807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COMBO CHICO · 50 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 1 balde × 5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7004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 Cada balde rinde 50 lts de producto terminado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443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 Total: 250 lts de limpieza · EMPRENDEDOR 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6440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Precio según calidad: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8727"/>
            <a:ext cx="356616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66159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Inicial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66159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$77.924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40479"/>
            <a:ext cx="356616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67911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Intermedia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867911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$83.842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42231"/>
            <a:ext cx="356616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9663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69663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$90.937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28800"/>
            <a:ext cx="42062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1828800"/>
            <a:ext cx="420624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1892807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COMBO GRANDE · 200 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3957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 1 balde × 5 productos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67004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 Cada balde rinde 200 lts de producto terminado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9443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✓  Total: 1.000 lts de limpieza para vender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26440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Precio según calidad: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3538727"/>
            <a:ext cx="35661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566159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Inicial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566159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$283.679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3840479"/>
            <a:ext cx="35661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867911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Intermedia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867911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$312.180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4142231"/>
            <a:ext cx="35661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4169663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Premium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169663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$353.568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" y="47731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★  Colores y fragancias se personalizan producto por producto dentro del combo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Catálogo de Fragancias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14 opciones · Sin costo adicional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53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🌲  Pino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39" y="1188720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353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💜  Lavanda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188720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353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🍒  Cherry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79" y="1188720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353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🌹  Arpege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29968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🌊  Marina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39" y="2029968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599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🍬  Chicle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2029968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🍊  Naranja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2029968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☀️  Summer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71216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0358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❄️  Fresh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39" y="2871216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599" y="30358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🍉  Sandía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2871216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0358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🦟  Citronella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79" y="2871216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0358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🌸  Rosa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12464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8770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🍋  Limón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39" y="3712464"/>
            <a:ext cx="2011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599" y="38770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✨  Olor a Limpio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718304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💡  La fragancia se elige en el momento del pedido. No hay costo extra. El cliente puede pedir fragancias distintas por producto.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Personalizaciones y Canjes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Todo lo que el cliente puede cambiar o elegir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52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🎨  División de colores en Jabón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Balde 200 lts divisible hasta en 4 colores distintos.
Ej: 50 Azul + 50 Violeta + 100 Verde → mismo precio, cero recargo.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43000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52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🌸  Desodorante: Fragancia libre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4592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Cualquiera de las ~14 fragancias del catálogo, sin costo adicional.
El 200 lts se puede dividir cada 50 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52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🔄  Canje Lavandina ↔ Desodorante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El cliente puede tomar Lavandina o Desodorante al mismo precio.
Los créditos se acumulan. Ideal para quien prefiere un producto.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017520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27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⭐  Elección de calidad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20439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Cada producto: Inicial / Intermedia / Premium.
Dentro de un combo, todos los productos van en la misma calidad.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017520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127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📦  Tamaño del balde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520439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50 lts o 200 lts por producto o combo.
No se pueden mezclar tamaños dentro de un combo.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127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🛵  Forma de 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20439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• Retiro en planta.
• Envíos FLEX (AMBA y Conurbano): se cotiza y abona junto al pedido.
• Interior (VÍA CARGO / ANDREANI): el cliente abona en destino.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Zonas de Envío y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Logística local e interior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10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420624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9786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🏠  Zona Moreno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19786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D54F"/>
                </a:solidFill>
                <a:latin typeface="Calibri"/>
              </a:rPr>
              <a:t>$4.500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Moreno · Paso del Rey · Cuartel V
Francisco Álvarez · La Reja · Trujui · Bordenave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1430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143000"/>
            <a:ext cx="420624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19786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📍  Cordón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19786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D54F"/>
                </a:solidFill>
                <a:latin typeface="Calibri"/>
              </a:rPr>
              <a:t>$5.500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José C. Paz · San Miguel · Ituzaingó
Merlo · Malvinas Argentinas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83464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834640"/>
            <a:ext cx="420624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🗺️  Cordón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88950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D54F"/>
                </a:solidFill>
                <a:latin typeface="Calibri"/>
              </a:rPr>
              <a:t>$6.500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375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La Matanza · Morón · Hurlingham · CABA
y 30+ localidades más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83464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834640"/>
            <a:ext cx="420624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8895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🚚  Cordón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88950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D54F"/>
                </a:solidFill>
                <a:latin typeface="Calibri"/>
              </a:rPr>
              <a:t>$9.500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3375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Escobar · Pilar · Zárate · Campana · Luján
La Plata · zona sur y norte lejano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626864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📦  Interior: Vía Cargo / Andreani — el cliente abona en destino.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Flujo de Venta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 la cotización al pedido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11 / 13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143000"/>
            <a:ext cx="594360" cy="59436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6128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28800"/>
            <a:ext cx="19659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828800"/>
            <a:ext cx="1965960" cy="411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PRE-COTIZACIÓN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04288"/>
            <a:ext cx="17830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Armás el pedido en la app:
• Cliente, productos, tamaños, calidades
• El sistema calcula el total automáticamente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3017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▶</a:t>
            </a:r>
          </a:p>
        </p:txBody>
      </p:sp>
      <p:sp>
        <p:nvSpPr>
          <p:cNvPr id="13" name="Oval 12"/>
          <p:cNvSpPr/>
          <p:nvPr/>
        </p:nvSpPr>
        <p:spPr>
          <a:xfrm>
            <a:off x="3090672" y="1143000"/>
            <a:ext cx="594360" cy="5943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116128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4872" y="1828800"/>
            <a:ext cx="19659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04872" y="1828800"/>
            <a:ext cx="196596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1" y="1874519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COBRO AL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304288"/>
            <a:ext cx="17830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Compartís cotización por WhatsApp.
• Retiro en planta
• Envío FLEX: paga antes (AMBA/Conurbano)
• Interior: abona al recibir en destino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3017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▶</a:t>
            </a:r>
          </a:p>
        </p:txBody>
      </p:sp>
      <p:sp>
        <p:nvSpPr>
          <p:cNvPr id="20" name="Oval 19"/>
          <p:cNvSpPr/>
          <p:nvPr/>
        </p:nvSpPr>
        <p:spPr>
          <a:xfrm>
            <a:off x="5266944" y="1143000"/>
            <a:ext cx="594360" cy="5943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66944" y="116128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1144" y="1828800"/>
            <a:ext cx="19659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81144" y="1828800"/>
            <a:ext cx="19659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1874519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PEDIDO DEFINITIVO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2304288"/>
            <a:ext cx="17830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Confirmás colores y fragancias por producto.
Definís cómo llega el pedido:
• Retira / Envío local / Envío interior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3017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▶</a:t>
            </a:r>
          </a:p>
        </p:txBody>
      </p:sp>
      <p:sp>
        <p:nvSpPr>
          <p:cNvPr id="27" name="Oval 26"/>
          <p:cNvSpPr/>
          <p:nvPr/>
        </p:nvSpPr>
        <p:spPr>
          <a:xfrm>
            <a:off x="7443216" y="1143000"/>
            <a:ext cx="594360" cy="5943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116128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57416" y="1828800"/>
            <a:ext cx="19659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57416" y="1828800"/>
            <a:ext cx="196596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1874519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5" y="2304288"/>
            <a:ext cx="17830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La app genera automáticamente:
• Cotización · Producción
• Checklist · Etiqueta
Imprimís y entregás con el pedido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Tips de Cierre y Objeciones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Cómo responder al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42062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C00"/>
                </a:solidFill>
                <a:latin typeface="Calibri"/>
              </a:rPr>
              <a:t>💡  Tips de cierre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→  Empezá siempre por el Combo Full. Si no lo toma, bajás a productos sueltos. Mencioná 15% descuento por 48 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29967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→  Mostrá el precio por litro: el concentrado sale 3-5x más barato que en el super.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→  Mencioná que es igual a las marcas líderes — misma formulación.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443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→  Ofrecé el tamaño 200 lts a quien ya es cliente — mayor ticket, mismo esfuerzo.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015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→  Si objetan por precio: ofrecé 50 lts de desodorante de regalo (combo chico) o 100 lts (combo grande).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587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→  Avisá que Verde/Azul en detergente llevan 48 hs de anticipo.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097280"/>
            <a:ext cx="42062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❓  Objeciones frecuentes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5727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❓ ¿Es de buena calidad?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470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✓ Sí. Misma formulación que marcas líderes. Probá la Premium.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3500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❓ ¿Cómo sé cuánto agua poner?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624327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✓ Te damos instrucciones con el pedido. Hacemos acompañamiento 1 a 1 si hace falta.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1272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❓ Pago anticipado → miedo a fraude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4015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✓ Somos líderes hace 25 años. Mostrá calificaciones en Google, videos en Instagram y TikTok.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904487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❓ ¿No es caro el flete?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178807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✓ El flete se divide entre varios productos. Mencioná el costo promedio por litro.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63040"/>
            <a:ext cx="9144000" cy="2286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 Black"/>
              </a:rPr>
              <a:t>TODO ES CUESTIÓN DE QUÍMICA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87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Pastas concentradas de calidad · Colores y fragancias a elección · Precio inigualable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7C00"/>
                </a:solidFill>
                <a:latin typeface="Arial Black"/>
              </a:rPr>
              <a:t>DOMÉSTICO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Química de Limpieza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634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Moreno, Buenos Aires · Uso interno ·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